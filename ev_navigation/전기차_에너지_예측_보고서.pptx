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분석 보고서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74520"/>
            <a:ext cx="109087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전기차 에너지 소비량</a:t>
            </a:r>
            <a:endParaRPr lang="en-US" sz="40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예측 모델 구축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774436" y="3246120"/>
            <a:ext cx="640080" cy="41148"/>
          </a:xfrm>
          <a:prstGeom prst="rect">
            <a:avLst/>
          </a:prstGeom>
          <a:solidFill>
            <a:srgbClr val="F28C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주행 조건 기반 전비(kWh/100km) 예측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내비게이션 에너지 비용 함수 개발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293876" y="4480560"/>
            <a:ext cx="3108960" cy="1005840"/>
          </a:xfrm>
          <a:prstGeom prst="roundRect">
            <a:avLst>
              <a:gd name="adj" fmla="val 3636"/>
            </a:avLst>
          </a:prstGeom>
          <a:solidFill>
            <a:srgbClr val="FFFAF2"/>
          </a:solidFill>
          <a:ln w="9525">
            <a:solidFill>
              <a:srgbClr val="DED3C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76756" y="4572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8,000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476756" y="5074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균질 주행 조건 데이터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39996" y="4480560"/>
            <a:ext cx="3108960" cy="1005840"/>
          </a:xfrm>
          <a:prstGeom prst="roundRect">
            <a:avLst>
              <a:gd name="adj" fmla="val 3636"/>
            </a:avLst>
          </a:prstGeom>
          <a:solidFill>
            <a:srgbClr val="FFFAF2"/>
          </a:solidFill>
          <a:ln w="9525">
            <a:solidFill>
              <a:srgbClr val="DED3C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22876" y="4572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9개 피처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722876" y="5074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8개 + 온도 파생 1개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86116" y="4480560"/>
            <a:ext cx="3108960" cy="1005840"/>
          </a:xfrm>
          <a:prstGeom prst="roundRect">
            <a:avLst>
              <a:gd name="adj" fmla="val 3636"/>
            </a:avLst>
          </a:prstGeom>
          <a:solidFill>
            <a:srgbClr val="FFFAF2"/>
          </a:solidFill>
          <a:ln w="9525">
            <a:solidFill>
              <a:srgbClr val="DED3C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968996" y="4572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0.931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7968996" y="5074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 교차검증 평균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D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ENERGY ANALYTICS · MACHINE LEARNING REPORT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10634472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2026.08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보고서 구성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목차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258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정확도만 높은 모델이 아니라, 실제 경로탐색에 넣을 수 있는 일관된 비용 함수를 만드는 과정입니다.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1714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1888236" y="1965960"/>
            <a:ext cx="8412480" cy="457200"/>
          </a:xfrm>
          <a:prstGeom prst="roundRect">
            <a:avLst>
              <a:gd name="adj" fmla="val 8000"/>
            </a:avLst>
          </a:prstGeom>
          <a:solidFill>
            <a:srgbClr val="FFF0DC"/>
          </a:solidFill>
          <a:ln w="9525">
            <a:solidFill>
              <a:srgbClr val="F28C2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71116" y="1965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894076" y="196596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비즈니스 문제와 예측 목표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294876" y="19659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88236" y="2496312"/>
            <a:ext cx="8412480" cy="457200"/>
          </a:xfrm>
          <a:prstGeom prst="roundRect">
            <a:avLst>
              <a:gd name="adj" fmla="val 8000"/>
            </a:avLst>
          </a:prstGeom>
          <a:solidFill>
            <a:srgbClr val="F4EDE3"/>
          </a:solidFill>
          <a:ln w="9525">
            <a:solidFill>
              <a:srgbClr val="F4ED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071116" y="249631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894076" y="2496312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탐색과 설계 판단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294876" y="249631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04–05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88236" y="3026664"/>
            <a:ext cx="8412480" cy="457200"/>
          </a:xfrm>
          <a:prstGeom prst="roundRect">
            <a:avLst>
              <a:gd name="adj" fmla="val 8000"/>
            </a:avLst>
          </a:prstGeom>
          <a:solidFill>
            <a:srgbClr val="F4EDE3"/>
          </a:solidFill>
          <a:ln w="9525">
            <a:solidFill>
              <a:srgbClr val="F4ED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071116" y="302666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2894076" y="3026664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일관성을 위한 피처 결정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294876" y="302666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888236" y="3557016"/>
            <a:ext cx="8412480" cy="457200"/>
          </a:xfrm>
          <a:prstGeom prst="roundRect">
            <a:avLst>
              <a:gd name="adj" fmla="val 8000"/>
            </a:avLst>
          </a:prstGeom>
          <a:solidFill>
            <a:srgbClr val="F4EDE3"/>
          </a:solidFill>
          <a:ln w="9525">
            <a:solidFill>
              <a:srgbClr val="F4EDE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071116" y="355701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2894076" y="3557016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비교와 최종 성능 평가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294876" y="355701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07–10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888236" y="4087368"/>
            <a:ext cx="8412480" cy="457200"/>
          </a:xfrm>
          <a:prstGeom prst="roundRect">
            <a:avLst>
              <a:gd name="adj" fmla="val 8000"/>
            </a:avLst>
          </a:prstGeom>
          <a:solidFill>
            <a:srgbClr val="F4EDE3"/>
          </a:solidFill>
          <a:ln w="9525">
            <a:solidFill>
              <a:srgbClr val="F4EDE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071116" y="408736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2894076" y="408736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경로 비용 함수와 서비스 활용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294876" y="408736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888236" y="4617720"/>
            <a:ext cx="8412480" cy="457200"/>
          </a:xfrm>
          <a:prstGeom prst="roundRect">
            <a:avLst>
              <a:gd name="adj" fmla="val 8000"/>
            </a:avLst>
          </a:prstGeom>
          <a:solidFill>
            <a:srgbClr val="F4EDE3"/>
          </a:solidFill>
          <a:ln w="9525">
            <a:solidFill>
              <a:srgbClr val="F4EDE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071116" y="46177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2894076" y="46177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 · 한계 · 다음 단계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294876" y="46177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888236" y="5285232"/>
            <a:ext cx="45720" cy="457200"/>
          </a:xfrm>
          <a:prstGeom prst="rect">
            <a:avLst/>
          </a:prstGeom>
          <a:solidFill>
            <a:srgbClr val="F28C2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2052828" y="5285232"/>
            <a:ext cx="8247888" cy="457200"/>
          </a:xfrm>
          <a:prstGeom prst="rect">
            <a:avLst/>
          </a:prstGeom>
          <a:solidFill>
            <a:srgbClr val="FFF0DC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질문  </a:t>
            </a:r>
            <a:pPr indent="0" marL="0">
              <a:buNone/>
            </a:pPr>
            <a:r>
              <a:rPr lang="en-US" sz="1150" dirty="0">
                <a:solidFill>
                  <a:srgbClr val="24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“예측력이 있는 변수라도 서비스 구조를 깨뜨린다면 제외해야 하는가?”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D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전기차 에너지 소비량 예측 모델 구축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10634472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비즈니스 문제 정의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고정 전비 하나로는 </a:t>
            </a:r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조건별 345km 스프레드</a:t>
            </a:r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를 설명할 수 없다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전비 11.62–35.00kWh/100km를 60kWh 배터리 주행가능거리로 환산하면 516–171km다. 345km는 오차가 아니라 조건별 가능한 범위다.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01568" cy="1234440"/>
          </a:xfrm>
          <a:prstGeom prst="roundRect">
            <a:avLst>
              <a:gd name="adj" fmla="val 2963"/>
            </a:avLst>
          </a:prstGeom>
          <a:solidFill>
            <a:srgbClr val="FFFAF2"/>
          </a:solidFill>
          <a:ln w="9525">
            <a:solidFill>
              <a:srgbClr val="DED3C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2276856"/>
            <a:ext cx="3072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이슈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514600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고정 전비 기반 안내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807208"/>
            <a:ext cx="3072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조건을 반영하지 못해 도착 SOC와 충전 계획의 신뢰가 낮아진다.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24528" y="2148840"/>
            <a:ext cx="3401568" cy="1234440"/>
          </a:xfrm>
          <a:prstGeom prst="roundRect">
            <a:avLst>
              <a:gd name="adj" fmla="val 2963"/>
            </a:avLst>
          </a:prstGeom>
          <a:solidFill>
            <a:srgbClr val="FFFAF2"/>
          </a:solidFill>
          <a:ln w="9525">
            <a:solidFill>
              <a:srgbClr val="DED3C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89120" y="2276856"/>
            <a:ext cx="3072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 대상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2514600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링크별 전비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2807208"/>
            <a:ext cx="3072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거리의 영향은 분리하고, 속도·경사·온도·부하가 만드는 소비 강도를 예측한다.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808976" y="2148840"/>
            <a:ext cx="3401568" cy="1234440"/>
          </a:xfrm>
          <a:prstGeom prst="roundRect">
            <a:avLst>
              <a:gd name="adj" fmla="val 2963"/>
            </a:avLst>
          </a:prstGeom>
          <a:solidFill>
            <a:srgbClr val="FFF0DC"/>
          </a:solidFill>
          <a:ln w="9525">
            <a:solidFill>
              <a:srgbClr val="F2C2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73568" y="2276856"/>
            <a:ext cx="3072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활용 목표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7973568" y="2514600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최소 에너지 경로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973568" y="2807208"/>
            <a:ext cx="3072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링크 에너지를 합산해 경로별 총소비와 도착 SOC를 비교한다.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703320"/>
            <a:ext cx="2590038" cy="868680"/>
          </a:xfrm>
          <a:prstGeom prst="roundRect">
            <a:avLst>
              <a:gd name="adj" fmla="val 4211"/>
            </a:avLst>
          </a:prstGeom>
          <a:solidFill>
            <a:srgbClr val="FFFAF2"/>
          </a:solidFill>
          <a:ln w="9525">
            <a:solidFill>
              <a:srgbClr val="DED3C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3813048"/>
            <a:ext cx="23157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032504"/>
            <a:ext cx="23157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주행·환경 신호 8개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4297680"/>
            <a:ext cx="23157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속도 · 경사 · 온도 · 부하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3230118" y="3703320"/>
            <a:ext cx="182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8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412998" y="3703320"/>
            <a:ext cx="2590038" cy="868680"/>
          </a:xfrm>
          <a:prstGeom prst="roundRect">
            <a:avLst>
              <a:gd name="adj" fmla="val 4211"/>
            </a:avLst>
          </a:prstGeom>
          <a:solidFill>
            <a:srgbClr val="FFFAF2"/>
          </a:solidFill>
          <a:ln w="9525">
            <a:solidFill>
              <a:srgbClr val="DED3C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50158" y="3813048"/>
            <a:ext cx="23157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3550158" y="4032504"/>
            <a:ext cx="23157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전비 회귀 모델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3550158" y="4297680"/>
            <a:ext cx="23157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kWh/100km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6003036" y="3703320"/>
            <a:ext cx="182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8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85916" y="3703320"/>
            <a:ext cx="2590038" cy="868680"/>
          </a:xfrm>
          <a:prstGeom prst="roundRect">
            <a:avLst>
              <a:gd name="adj" fmla="val 4211"/>
            </a:avLst>
          </a:prstGeom>
          <a:solidFill>
            <a:srgbClr val="FFFAF2"/>
          </a:solidFill>
          <a:ln w="9525">
            <a:solidFill>
              <a:srgbClr val="DED3C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23076" y="3813048"/>
            <a:ext cx="23157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환산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323076" y="4032504"/>
            <a:ext cx="23157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전비 × 링크 거리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6323076" y="4297680"/>
            <a:ext cx="23157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링크 에너지 kWh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8775954" y="3703320"/>
            <a:ext cx="182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8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958834" y="3703320"/>
            <a:ext cx="2590038" cy="868680"/>
          </a:xfrm>
          <a:prstGeom prst="roundRect">
            <a:avLst>
              <a:gd name="adj" fmla="val 4211"/>
            </a:avLst>
          </a:prstGeom>
          <a:solidFill>
            <a:srgbClr val="FFF0DC"/>
          </a:solidFill>
          <a:ln w="9525">
            <a:solidFill>
              <a:srgbClr val="F2C28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095994" y="3813048"/>
            <a:ext cx="23157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활용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9095994" y="4032504"/>
            <a:ext cx="23157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도착 SOC · 경로 추천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9095994" y="4297680"/>
            <a:ext cx="23157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최소 에너지 안내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40080" y="4800600"/>
            <a:ext cx="5362956" cy="777240"/>
          </a:xfrm>
          <a:prstGeom prst="rect">
            <a:avLst/>
          </a:prstGeom>
          <a:solidFill>
            <a:srgbClr val="FFFAF2"/>
          </a:solidFill>
          <a:ln/>
        </p:spPr>
      </p:sp>
      <p:sp>
        <p:nvSpPr>
          <p:cNvPr id="37" name="Shape 35"/>
          <p:cNvSpPr/>
          <p:nvPr/>
        </p:nvSpPr>
        <p:spPr>
          <a:xfrm>
            <a:off x="640080" y="4800600"/>
            <a:ext cx="5362956" cy="32004"/>
          </a:xfrm>
          <a:prstGeom prst="rect">
            <a:avLst/>
          </a:prstGeom>
          <a:solidFill>
            <a:srgbClr val="F28C28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04672" y="4910328"/>
            <a:ext cx="50337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4가지 선정 기준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804672" y="5212080"/>
            <a:ext cx="50337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 · 추론속도 · 해석 가능성 · 서비스 일관성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185916" y="4800600"/>
            <a:ext cx="5362956" cy="777240"/>
          </a:xfrm>
          <a:prstGeom prst="rect">
            <a:avLst/>
          </a:prstGeom>
          <a:solidFill>
            <a:srgbClr val="FFFAF2"/>
          </a:solidFill>
          <a:ln/>
        </p:spPr>
      </p:sp>
      <p:sp>
        <p:nvSpPr>
          <p:cNvPr id="41" name="Shape 39"/>
          <p:cNvSpPr/>
          <p:nvPr/>
        </p:nvSpPr>
        <p:spPr>
          <a:xfrm>
            <a:off x="6185916" y="4800600"/>
            <a:ext cx="5362956" cy="32004"/>
          </a:xfrm>
          <a:prstGeom prst="rect">
            <a:avLst/>
          </a:prstGeom>
          <a:solidFill>
            <a:srgbClr val="F28C28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350508" y="4910328"/>
            <a:ext cx="50337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추가 하드웨어 0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6350508" y="5212080"/>
            <a:ext cx="50337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교통정보 · HD맵 · BMS · TPMS 등 양산차 기존 신호 활용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64008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D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· ev_energy_analysis.ipynb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10634472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데이터 이해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8,000건은 깨끗하지만, </a:t>
            </a:r>
            <a:pPr algn="l"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실도로가 아닌 DOE형 조건 공간</a:t>
            </a:r>
            <a:pPr algn="l"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결측·중복·물리 범위 위반은 없고 입력은 거의 균등분포다. 극단 조건까지 고르게 학습되는 대신 실환경 분포와는 차이가 난다.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48840"/>
          <a:ext cx="51206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463040"/>
                <a:gridCol w="192024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점검 항목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7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결과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7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판단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76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관측치 / 변수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8,000 × 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입력 9개 + 타깃 1개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결측치 / 중복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대체·삭제 불필요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전비 범위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11.62–35.00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변환 없이 회귀 타깃 사용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입력 간 최대 |r|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다중공선성 매우 낮음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1.000–1.002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계수 추정 안정적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입력 분포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대부분 균등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DOE형 합성데이터로 판단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4434840"/>
            <a:ext cx="1600200" cy="777240"/>
          </a:xfrm>
          <a:prstGeom prst="roundRect">
            <a:avLst>
              <a:gd name="adj" fmla="val 4706"/>
            </a:avLst>
          </a:prstGeom>
          <a:solidFill>
            <a:srgbClr val="F4EDE3"/>
          </a:solidFill>
          <a:ln w="9525">
            <a:solidFill>
              <a:srgbClr val="DED3C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4526280"/>
            <a:ext cx="1380744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20–130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4901184"/>
            <a:ext cx="138074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속도 km/h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377440" y="4434840"/>
            <a:ext cx="1600200" cy="777240"/>
          </a:xfrm>
          <a:prstGeom prst="roundRect">
            <a:avLst>
              <a:gd name="adj" fmla="val 4706"/>
            </a:avLst>
          </a:prstGeom>
          <a:solidFill>
            <a:srgbClr val="F4EDE3"/>
          </a:solidFill>
          <a:ln w="9525">
            <a:solidFill>
              <a:srgbClr val="DED3C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487168" y="4526280"/>
            <a:ext cx="1380744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−10–40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2487168" y="4901184"/>
            <a:ext cx="138074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외기온 °C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114800" y="4434840"/>
            <a:ext cx="1600200" cy="777240"/>
          </a:xfrm>
          <a:prstGeom prst="roundRect">
            <a:avLst>
              <a:gd name="adj" fmla="val 4706"/>
            </a:avLst>
          </a:prstGeom>
          <a:solidFill>
            <a:srgbClr val="F4EDE3"/>
          </a:solidFill>
          <a:ln w="9525">
            <a:solidFill>
              <a:srgbClr val="DED3C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224528" y="4526280"/>
            <a:ext cx="1380744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−5–8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4224528" y="4901184"/>
            <a:ext cx="138074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도로 경사 %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40080" y="5394960"/>
            <a:ext cx="45720" cy="731520"/>
          </a:xfrm>
          <a:prstGeom prst="rect">
            <a:avLst/>
          </a:prstGeom>
          <a:solidFill>
            <a:srgbClr val="F28C2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" y="5394960"/>
            <a:ext cx="4956048" cy="731520"/>
          </a:xfrm>
          <a:prstGeom prst="rect">
            <a:avLst/>
          </a:prstGeom>
          <a:solidFill>
            <a:srgbClr val="FFF0DC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해석 범위  </a:t>
            </a:r>
            <a:pPr indent="0" marL="0">
              <a:buNone/>
            </a:pPr>
            <a:r>
              <a:rPr lang="en-US" sz="1150" dirty="0">
                <a:solidFill>
                  <a:srgbClr val="24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합성데이터 안에서는 안정적이지만, 차종·운전자·계절이 달라지는 실차 외부 검증이 필요하다.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035040" y="2148840"/>
            <a:ext cx="5513832" cy="3064016"/>
          </a:xfrm>
          <a:prstGeom prst="roundRect">
            <a:avLst>
              <a:gd name="adj" fmla="val 1194"/>
            </a:avLst>
          </a:prstGeom>
          <a:solidFill>
            <a:srgbClr val="FFFDF8"/>
          </a:solidFill>
          <a:ln w="9525">
            <a:solidFill>
              <a:srgbClr val="DED3C3"/>
            </a:solidFill>
            <a:prstDash val="solid"/>
          </a:ln>
        </p:spPr>
      </p:sp>
      <p:pic>
        <p:nvPicPr>
          <p:cNvPr id="18" name="Image 0" descr="/home/claude/pptx_build/images/chart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3328" y="2167128"/>
            <a:ext cx="5477256" cy="304369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6035040" y="5238250"/>
            <a:ext cx="5513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전비 타깃 분포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64008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D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· 8,000 synthetic driving-condition records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10634472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탐색적 데이터 분석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경사·적재·속도가 전비를 끌어올리고, </a:t>
            </a:r>
            <a:pPr algn="l"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온도만 뚜렷한 비선형</a:t>
            </a:r>
            <a:pPr algn="l"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을 보인다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대부분의 관계는 선형·가법적이지만 외기온은 20°C 부근에서 낮고 혹한·폭염에서 증가하는 U자형이다.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349240" cy="2980078"/>
          </a:xfrm>
          <a:prstGeom prst="roundRect">
            <a:avLst>
              <a:gd name="adj" fmla="val 1227"/>
            </a:avLst>
          </a:prstGeom>
          <a:solidFill>
            <a:srgbClr val="FFFDF8"/>
          </a:solidFill>
          <a:ln w="9525">
            <a:solidFill>
              <a:srgbClr val="DED3C3"/>
            </a:solidFill>
            <a:prstDash val="solid"/>
          </a:ln>
        </p:spPr>
      </p:sp>
      <p:pic>
        <p:nvPicPr>
          <p:cNvPr id="6" name="Image 0" descr="/home/claude/pptx_build/images/chart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03120"/>
            <a:ext cx="5257800" cy="288863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17920" y="2057400"/>
            <a:ext cx="5349240" cy="2980078"/>
          </a:xfrm>
          <a:prstGeom prst="roundRect">
            <a:avLst>
              <a:gd name="adj" fmla="val 1227"/>
            </a:avLst>
          </a:prstGeom>
          <a:solidFill>
            <a:srgbClr val="FFFDF8"/>
          </a:solidFill>
          <a:ln w="9525">
            <a:solidFill>
              <a:srgbClr val="DED3C3"/>
            </a:solidFill>
            <a:prstDash val="solid"/>
          </a:ln>
        </p:spPr>
      </p:sp>
      <p:pic>
        <p:nvPicPr>
          <p:cNvPr id="8" name="Image 1" descr="/home/claude/pptx_build/images/chart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103120"/>
            <a:ext cx="5257800" cy="288863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5311798"/>
            <a:ext cx="2624328" cy="1005840"/>
          </a:xfrm>
          <a:prstGeom prst="roundRect">
            <a:avLst>
              <a:gd name="adj" fmla="val 3636"/>
            </a:avLst>
          </a:prstGeom>
          <a:solidFill>
            <a:srgbClr val="F4EDE3"/>
          </a:solidFill>
          <a:ln w="9525">
            <a:solidFill>
              <a:srgbClr val="DED3C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68096" y="5421526"/>
            <a:ext cx="2368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768096" y="5677558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+0.51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768096" y="6061606"/>
            <a:ext cx="2368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도로경사 ↔ 전비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401568" y="5311798"/>
            <a:ext cx="2624328" cy="1005840"/>
          </a:xfrm>
          <a:prstGeom prst="roundRect">
            <a:avLst>
              <a:gd name="adj" fmla="val 3636"/>
            </a:avLst>
          </a:prstGeom>
          <a:solidFill>
            <a:srgbClr val="F4EDE3"/>
          </a:solidFill>
          <a:ln w="9525">
            <a:solidFill>
              <a:srgbClr val="DED3C3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529584" y="5421526"/>
            <a:ext cx="2368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3529584" y="5677558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+0.47</a:t>
            </a:r>
            <a:endParaRPr lang="en-US" sz="1900" dirty="0"/>
          </a:p>
        </p:txBody>
      </p:sp>
      <p:sp>
        <p:nvSpPr>
          <p:cNvPr id="16" name="Text 12"/>
          <p:cNvSpPr txBox="1"/>
          <p:nvPr/>
        </p:nvSpPr>
        <p:spPr>
          <a:xfrm>
            <a:off x="3529584" y="6061606"/>
            <a:ext cx="2368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적재중량 ↔ 전비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163056" y="5311798"/>
            <a:ext cx="2624328" cy="1005840"/>
          </a:xfrm>
          <a:prstGeom prst="roundRect">
            <a:avLst>
              <a:gd name="adj" fmla="val 3636"/>
            </a:avLst>
          </a:prstGeom>
          <a:solidFill>
            <a:srgbClr val="F4EDE3"/>
          </a:solidFill>
          <a:ln w="9525">
            <a:solidFill>
              <a:srgbClr val="DED3C3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291072" y="5421526"/>
            <a:ext cx="2368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6291072" y="5677558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+0.45</a:t>
            </a:r>
            <a:endParaRPr lang="en-US" sz="1900" dirty="0"/>
          </a:p>
        </p:txBody>
      </p:sp>
      <p:sp>
        <p:nvSpPr>
          <p:cNvPr id="20" name="Text 16"/>
          <p:cNvSpPr txBox="1"/>
          <p:nvPr/>
        </p:nvSpPr>
        <p:spPr>
          <a:xfrm>
            <a:off x="6291072" y="6061606"/>
            <a:ext cx="2368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속도 ↔ 전비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8924544" y="5311798"/>
            <a:ext cx="2624328" cy="1005840"/>
          </a:xfrm>
          <a:prstGeom prst="roundRect">
            <a:avLst>
              <a:gd name="adj" fmla="val 3636"/>
            </a:avLst>
          </a:prstGeom>
          <a:solidFill>
            <a:srgbClr val="FFF0DC"/>
          </a:solidFill>
          <a:ln w="9525">
            <a:solidFill>
              <a:srgbClr val="F2C28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9052560" y="5421526"/>
            <a:ext cx="2368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비선형 관계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9052560" y="5677558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(t−20)²</a:t>
            </a:r>
            <a:endParaRPr lang="en-US" sz="1900" dirty="0"/>
          </a:p>
        </p:txBody>
      </p:sp>
      <p:sp>
        <p:nvSpPr>
          <p:cNvPr id="24" name="Text 20"/>
          <p:cNvSpPr txBox="1"/>
          <p:nvPr/>
        </p:nvSpPr>
        <p:spPr>
          <a:xfrm>
            <a:off x="9052560" y="6061606"/>
            <a:ext cx="2368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온도 파생변수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64008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D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판단 · 선형 모델 + 온도 비선형 1곳 보정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10634472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서비스 일관성 설계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예측력 있는 거리 변수를 버리고, </a:t>
            </a:r>
            <a:pPr algn="l"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분할 불변성</a:t>
            </a:r>
            <a:pPr algn="l"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을 선택했다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거리를 넣으면 Validation R²는 0.952까지 오르지만, 같은 물리 경로의 링크 표현 방식에 따라 총에너지가 바뀐다.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03120"/>
            <a:ext cx="53172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9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거리 포함 모델 · 문제 발생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77440"/>
          <a:ext cx="5317236" cy="914400"/>
        </p:xfrm>
        <a:graphic>
          <a:graphicData uri="http://schemas.openxmlformats.org/drawingml/2006/table">
            <a:tbl>
              <a:tblPr/>
              <a:tblGrid>
                <a:gridCol w="2392756"/>
                <a:gridCol w="1595171"/>
                <a:gridCol w="1329309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동일한 100km 경로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7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총에너지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7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차이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76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1링크 × 100km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24.18kWh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2링크 × 50km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23.68kWh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−2.08%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20링크 × 5km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23.23kWh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−3.95%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231636" y="2103120"/>
            <a:ext cx="53172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D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거리 제외 모델 · 자동 검증 통과</a:t>
            </a:r>
            <a:endParaRPr lang="en-US" sz="9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31636" y="2377440"/>
          <a:ext cx="5317236" cy="914400"/>
        </p:xfrm>
        <a:graphic>
          <a:graphicData uri="http://schemas.openxmlformats.org/drawingml/2006/table">
            <a:tbl>
              <a:tblPr/>
              <a:tblGrid>
                <a:gridCol w="2392756"/>
                <a:gridCol w="1595171"/>
                <a:gridCol w="1329309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링크 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7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총에너지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7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결과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76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2 · 5 · 10 · 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모두 24.215kWh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동일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분할 방식 변경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오차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C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40080" y="4160520"/>
            <a:ext cx="5317236" cy="777240"/>
          </a:xfrm>
          <a:prstGeom prst="rect">
            <a:avLst/>
          </a:prstGeom>
          <a:solidFill>
            <a:srgbClr val="FFFAF2"/>
          </a:solidFill>
          <a:ln/>
        </p:spPr>
      </p:sp>
      <p:sp>
        <p:nvSpPr>
          <p:cNvPr id="10" name="Shape 6"/>
          <p:cNvSpPr/>
          <p:nvPr/>
        </p:nvSpPr>
        <p:spPr>
          <a:xfrm>
            <a:off x="640080" y="4160520"/>
            <a:ext cx="5317236" cy="32004"/>
          </a:xfrm>
          <a:prstGeom prst="rect">
            <a:avLst/>
          </a:prstGeom>
          <a:solidFill>
            <a:srgbClr val="F28C28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804672" y="4270248"/>
            <a:ext cx="49880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−0.023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804672" y="4599432"/>
            <a:ext cx="49880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정확도는 낮아졌지만 다른 계수 변화는 최대 1.8%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231636" y="4160520"/>
            <a:ext cx="5317236" cy="777240"/>
          </a:xfrm>
          <a:prstGeom prst="rect">
            <a:avLst/>
          </a:prstGeom>
          <a:solidFill>
            <a:srgbClr val="FFFAF2"/>
          </a:solidFill>
          <a:ln/>
        </p:spPr>
      </p:sp>
      <p:sp>
        <p:nvSpPr>
          <p:cNvPr id="14" name="Shape 10"/>
          <p:cNvSpPr/>
          <p:nvPr/>
        </p:nvSpPr>
        <p:spPr>
          <a:xfrm>
            <a:off x="6231636" y="4160520"/>
            <a:ext cx="5317236" cy="32004"/>
          </a:xfrm>
          <a:prstGeom prst="rect">
            <a:avLst/>
          </a:prstGeom>
          <a:solidFill>
            <a:srgbClr val="F28C28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6396228" y="4270248"/>
            <a:ext cx="49880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일관성 +100%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6396228" y="4599432"/>
            <a:ext cx="49880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거리는 전비 모델 밖에서 총에너지 변환에만 사용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40080" y="5166360"/>
            <a:ext cx="45720" cy="640080"/>
          </a:xfrm>
          <a:prstGeom prst="rect">
            <a:avLst/>
          </a:prstGeom>
          <a:solidFill>
            <a:srgbClr val="F28C28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804672" y="5166360"/>
            <a:ext cx="10744200" cy="640080"/>
          </a:xfrm>
          <a:prstGeom prst="rect">
            <a:avLst/>
          </a:prstGeom>
          <a:solidFill>
            <a:srgbClr val="FFF0DC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 판단  </a:t>
            </a:r>
            <a:pPr indent="0" marL="0">
              <a:buNone/>
            </a:pPr>
            <a:r>
              <a:rPr lang="en-US" sz="1150" dirty="0">
                <a:solidFill>
                  <a:srgbClr val="24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정확도보다 그래프 표현에 흔들리지 않는 비용 함수가 실제 서비스에 더 중요하다.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64008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D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링크 분할 불변성 검증 · ev_energy_analysis.ipynb §6-2</a:t>
            </a:r>
            <a:endParaRPr lang="en-US" sz="800" dirty="0"/>
          </a:p>
        </p:txBody>
      </p:sp>
      <p:sp>
        <p:nvSpPr>
          <p:cNvPr id="20" name="Text 16"/>
          <p:cNvSpPr txBox="1"/>
          <p:nvPr/>
        </p:nvSpPr>
        <p:spPr>
          <a:xfrm>
            <a:off x="10634472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모델 설계 및 비교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동일한 조건에서 </a:t>
            </a:r>
            <a:pPr algn="l"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14개 모델 구성</a:t>
            </a:r>
            <a:pPr algn="l"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을 네 단계로 검증했다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단순한 모델을 미리 정해놓지 않고, 기본 비교부터 튜닝·파생변수 검증·다항 탐색까지 순서대로 후보를 압축했다.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624328" cy="1417320"/>
          </a:xfrm>
          <a:prstGeom prst="roundRect">
            <a:avLst>
              <a:gd name="adj" fmla="val 2581"/>
            </a:avLst>
          </a:prstGeom>
          <a:solidFill>
            <a:srgbClr val="FFFAF2"/>
          </a:solidFill>
          <a:ln w="9525">
            <a:solidFill>
              <a:srgbClr val="DED3C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286000"/>
            <a:ext cx="365760" cy="365760"/>
          </a:xfrm>
          <a:prstGeom prst="ellipse">
            <a:avLst/>
          </a:prstGeom>
          <a:solidFill>
            <a:srgbClr val="F28C2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43200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모델 비교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035808"/>
            <a:ext cx="2350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Linear·Ridge·Lasso·Decision Tree·Random Forest·XGBoost를 동일한 분할과 지표로 비교했다.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401568" y="2148840"/>
            <a:ext cx="2624328" cy="1417320"/>
          </a:xfrm>
          <a:prstGeom prst="roundRect">
            <a:avLst>
              <a:gd name="adj" fmla="val 2581"/>
            </a:avLst>
          </a:prstGeom>
          <a:solidFill>
            <a:srgbClr val="FFFAF2"/>
          </a:solidFill>
          <a:ln w="9525">
            <a:solidFill>
              <a:srgbClr val="DED3C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38728" y="2286000"/>
            <a:ext cx="365760" cy="365760"/>
          </a:xfrm>
          <a:prstGeom prst="ellipse">
            <a:avLst/>
          </a:prstGeom>
          <a:solidFill>
            <a:srgbClr val="F28C2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38728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538728" y="2743200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계열 튜닝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538728" y="3035808"/>
            <a:ext cx="2350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설정 때문에 불리한 모델이 없도록 각 계열의 하이퍼파라미터를 교차검증으로 다시 탐색했다.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63056" y="2148840"/>
            <a:ext cx="2624328" cy="1417320"/>
          </a:xfrm>
          <a:prstGeom prst="roundRect">
            <a:avLst>
              <a:gd name="adj" fmla="val 2581"/>
            </a:avLst>
          </a:prstGeom>
          <a:solidFill>
            <a:srgbClr val="FFFAF2"/>
          </a:solidFill>
          <a:ln w="9525">
            <a:solidFill>
              <a:srgbClr val="DED3C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0216" y="2286000"/>
            <a:ext cx="365760" cy="365760"/>
          </a:xfrm>
          <a:prstGeom prst="ellipse">
            <a:avLst/>
          </a:prstGeom>
          <a:solidFill>
            <a:srgbClr val="F28C2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00216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300216" y="2743200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파생변수 검증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300216" y="3035808"/>
            <a:ext cx="2350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물리 근거가 있는 후보를 하나씩 추가하는 ablation으로 실제 개선을 만든 변수를 분리했다.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924544" y="2148840"/>
            <a:ext cx="2624328" cy="1417320"/>
          </a:xfrm>
          <a:prstGeom prst="roundRect">
            <a:avLst>
              <a:gd name="adj" fmla="val 2581"/>
            </a:avLst>
          </a:prstGeom>
          <a:solidFill>
            <a:srgbClr val="FFFAF2"/>
          </a:solidFill>
          <a:ln w="9525">
            <a:solidFill>
              <a:srgbClr val="DED3C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61704" y="2286000"/>
            <a:ext cx="365760" cy="365760"/>
          </a:xfrm>
          <a:prstGeom prst="ellipse">
            <a:avLst/>
          </a:prstGeom>
          <a:solidFill>
            <a:srgbClr val="F28C2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061704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061704" y="2743200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 상한 확인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9061704" y="3035808"/>
            <a:ext cx="2350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Poly-2 전체 44항을 적용해 복잡한 비선형·상호작용을 허용했을 때의 상한을 확인했다.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40080" y="3749040"/>
            <a:ext cx="45720" cy="502920"/>
          </a:xfrm>
          <a:prstGeom prst="rect">
            <a:avLst/>
          </a:prstGeom>
          <a:solidFill>
            <a:srgbClr val="F28C2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4672" y="3749040"/>
            <a:ext cx="10744200" cy="502920"/>
          </a:xfrm>
          <a:prstGeom prst="rect">
            <a:avLst/>
          </a:prstGeom>
          <a:solidFill>
            <a:srgbClr val="FFF0DC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선결 조건  </a:t>
            </a:r>
            <a:pPr indent="0" marL="0">
              <a:buNone/>
            </a:pPr>
            <a:r>
              <a:rPr lang="en-US" sz="1150" dirty="0">
                <a:solidFill>
                  <a:srgbClr val="24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거리 변수는 모델 비교 전에 제외했다. 따라서 최종 후보는 모두 링크 분할 불변성과 비용의 가법성을 충족한다.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4343400"/>
            <a:ext cx="3018592" cy="2057400"/>
          </a:xfrm>
          <a:prstGeom prst="roundRect">
            <a:avLst>
              <a:gd name="adj" fmla="val 1778"/>
            </a:avLst>
          </a:prstGeom>
          <a:solidFill>
            <a:srgbClr val="FFFDF8"/>
          </a:solidFill>
          <a:ln w="9525">
            <a:solidFill>
              <a:srgbClr val="DED3C3"/>
            </a:solidFill>
            <a:prstDash val="solid"/>
          </a:ln>
        </p:spPr>
      </p:sp>
      <p:pic>
        <p:nvPicPr>
          <p:cNvPr id="28" name="Image 0" descr="/home/claude/pptx_build/images/chart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389120"/>
            <a:ext cx="2927152" cy="1965960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3932992" y="4343400"/>
            <a:ext cx="761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평가축 비교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2992" y="4617720"/>
          <a:ext cx="7615880" cy="914400"/>
        </p:xfrm>
        <a:graphic>
          <a:graphicData uri="http://schemas.openxmlformats.org/drawingml/2006/table">
            <a:tbl>
              <a:tblPr/>
              <a:tblGrid>
                <a:gridCol w="2284764"/>
                <a:gridCol w="1827811"/>
                <a:gridCol w="1751653"/>
                <a:gridCol w="1751653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평가축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7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7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7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Poly-2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76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R²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추론 / 1,600건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5.46ms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중간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해석성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9개 계수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중요도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Train–Val 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2"/>
                    </a:solidFill>
                  </a:tcPr>
                </a:tc>
              </a:tr>
            </a:tbl>
          </a:graphicData>
        </a:graphic>
      </p:graphicFrame>
      <p:sp>
        <p:nvSpPr>
          <p:cNvPr id="31" name="Text 27"/>
          <p:cNvSpPr txBox="1"/>
          <p:nvPr/>
        </p:nvSpPr>
        <p:spPr>
          <a:xfrm>
            <a:off x="64008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D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14개 구성 비교 · Poly-2 = 44항 전수 탐색</a:t>
            </a:r>
            <a:endParaRPr lang="en-US" sz="800" dirty="0"/>
          </a:p>
        </p:txBody>
      </p:sp>
      <p:sp>
        <p:nvSpPr>
          <p:cNvPr id="32" name="Text 28"/>
          <p:cNvSpPr txBox="1"/>
          <p:nvPr/>
        </p:nvSpPr>
        <p:spPr>
          <a:xfrm>
            <a:off x="10634472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최종 모델 선정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성능 차이가 작을 때는 </a:t>
            </a:r>
            <a:pPr algn="l"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복잡도와 운영성</a:t>
            </a:r>
            <a:pPr algn="l"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 최종 결정을 가른다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Linear와 Poly-2의 Validation R² 차이는 0.0008에 불과했다. 추가 복잡도가 실질적인 성능 이득으로 이어지는지를 기준으로 최종 모델을 판단했다.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86000"/>
          <a:ext cx="1090879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2004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판단 기준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7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+ 온도 파생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7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Poly-2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7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튜닝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76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R²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Train–Val 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추론 및 연산 구조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0.06ms / 1,600건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44항 생성·연산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5.46ms / 1,600건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모델 복잡도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원본 8개 + 파생 1개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전체 44항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다수 트리 앙상블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결과 설명 방식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계수로 직접 설명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항별 해석 어려움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중요도 수준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최종 역할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최종 선정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성능 상한 확인용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비교 후보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2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074920"/>
            <a:ext cx="45720" cy="594360"/>
          </a:xfrm>
          <a:prstGeom prst="rect">
            <a:avLst/>
          </a:prstGeom>
          <a:solidFill>
            <a:srgbClr val="F28C2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04672" y="5074920"/>
            <a:ext cx="10744200" cy="594360"/>
          </a:xfrm>
          <a:prstGeom prst="rect">
            <a:avLst/>
          </a:prstGeom>
          <a:solidFill>
            <a:srgbClr val="FFF0DC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선정 규칙  </a:t>
            </a:r>
            <a:pPr indent="0" marL="0">
              <a:buNone/>
            </a:pPr>
            <a:r>
              <a:rPr lang="en-US" sz="1150" dirty="0">
                <a:solidFill>
                  <a:srgbClr val="24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요건 통과 → Validation 상위권 → 과적합·추론비용 확인 → 성능이 유사하면 가장 단순한 모델 선택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5806440"/>
            <a:ext cx="10908792" cy="594360"/>
          </a:xfrm>
          <a:prstGeom prst="roundRect">
            <a:avLst>
              <a:gd name="adj" fmla="val 6154"/>
            </a:avLst>
          </a:prstGeom>
          <a:solidFill>
            <a:srgbClr val="FFF0DC"/>
          </a:solidFill>
          <a:ln w="9525">
            <a:solidFill>
              <a:srgbClr val="F2C28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58064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선정  </a:t>
            </a:r>
            <a:pPr indent="0" marL="0">
              <a:buNone/>
            </a:pPr>
            <a:r>
              <a:rPr lang="en-US" sz="15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+ (t−20)²</a:t>
            </a:r>
            <a:pPr indent="0" marL="0">
              <a:buNone/>
            </a:pPr>
            <a:r>
              <a:rPr lang="en-US" sz="115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9개 계수만으로 44항 다항모델의 성능 상한을 재현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D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선정 기준 · 정확도 · 속도 · 해석성 · 서비스 일관성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10634472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최종 성능 평가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반복 교차검증과 Test가 </a:t>
            </a:r>
            <a:pPr algn="l"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같은 방향</a:t>
            </a:r>
            <a:pPr algn="l"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을 가리킨다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 지표는 Train+Val 6,400건에 대한 5-fold × 4회 반복 교차검증이며, Test는 확인용으로 사용했다.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624328" cy="914400"/>
          </a:xfrm>
          <a:prstGeom prst="roundRect">
            <a:avLst>
              <a:gd name="adj" fmla="val 4000"/>
            </a:avLst>
          </a:prstGeom>
          <a:solidFill>
            <a:srgbClr val="FFF0DC"/>
          </a:solidFill>
          <a:ln w="9525">
            <a:solidFill>
              <a:srgbClr val="DED3C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029968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0.931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23744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R² 평균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01568" y="1920240"/>
            <a:ext cx="2624328" cy="914400"/>
          </a:xfrm>
          <a:prstGeom prst="roundRect">
            <a:avLst>
              <a:gd name="adj" fmla="val 4000"/>
            </a:avLst>
          </a:prstGeom>
          <a:solidFill>
            <a:srgbClr val="F4EDE3"/>
          </a:solidFill>
          <a:ln w="9525">
            <a:solidFill>
              <a:srgbClr val="DED3C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38728" y="2029968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±0.003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538728" y="2523744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R² 표준편차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163056" y="1920240"/>
            <a:ext cx="2624328" cy="914400"/>
          </a:xfrm>
          <a:prstGeom prst="roundRect">
            <a:avLst>
              <a:gd name="adj" fmla="val 4000"/>
            </a:avLst>
          </a:prstGeom>
          <a:solidFill>
            <a:srgbClr val="E9F0F5"/>
          </a:solidFill>
          <a:ln w="9525">
            <a:solidFill>
              <a:srgbClr val="DED3C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0216" y="2029968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5F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0.795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300216" y="2523744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MAE kWh/100km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924544" y="1920240"/>
            <a:ext cx="2624328" cy="914400"/>
          </a:xfrm>
          <a:prstGeom prst="roundRect">
            <a:avLst>
              <a:gd name="adj" fmla="val 4000"/>
            </a:avLst>
          </a:prstGeom>
          <a:solidFill>
            <a:srgbClr val="E9F4EE"/>
          </a:solidFill>
          <a:ln w="9525">
            <a:solidFill>
              <a:srgbClr val="DED3C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061704" y="2029968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D8B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0.998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9061704" y="2523744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RMSE kWh/100km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3017520"/>
            <a:ext cx="7531998" cy="2331720"/>
          </a:xfrm>
          <a:prstGeom prst="roundRect">
            <a:avLst>
              <a:gd name="adj" fmla="val 1569"/>
            </a:avLst>
          </a:prstGeom>
          <a:solidFill>
            <a:srgbClr val="FFFDF8"/>
          </a:solidFill>
          <a:ln w="9525">
            <a:solidFill>
              <a:srgbClr val="DED3C3"/>
            </a:solidFill>
            <a:prstDash val="solid"/>
          </a:ln>
        </p:spPr>
      </p:sp>
      <p:pic>
        <p:nvPicPr>
          <p:cNvPr id="18" name="Image 0" descr="/home/claude/pptx_build/images/chart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063240"/>
            <a:ext cx="7440558" cy="224028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640080" y="5532120"/>
            <a:ext cx="45720" cy="685800"/>
          </a:xfrm>
          <a:prstGeom prst="rect">
            <a:avLst/>
          </a:prstGeom>
          <a:solidFill>
            <a:srgbClr val="F28C28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4672" y="5532120"/>
            <a:ext cx="10744200" cy="685800"/>
          </a:xfrm>
          <a:prstGeom prst="rect">
            <a:avLst/>
          </a:prstGeom>
          <a:solidFill>
            <a:srgbClr val="FFF0DC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투명성 고지  </a:t>
            </a:r>
            <a:pPr indent="0" marL="0">
              <a:buNone/>
            </a:pPr>
            <a:r>
              <a:rPr lang="en-US" sz="1150" dirty="0">
                <a:solidFill>
                  <a:srgbClr val="24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거리 제외 결정 과정에서 Test 성능을 관찰했으므로 완전한 외부 홀드아웃은 아니다. 따라서 반복 교차검증을 주 성능으로 보고하고 외부 실차 검증을 향후 과제로 둔다.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64008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D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실제값 vs 예측값 비교 (Lasso · XGBoost · 최종모델)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10634472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성능의 업무 의미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고정 전비보다 거리오차를 </a:t>
            </a:r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약 72%</a:t>
            </a:r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줄였다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평균값 한 점이 아니라 표본별 주행가능거리 오차 분포로 환산해 꼬리 위험까지 확인했다.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931920" cy="914400"/>
          </a:xfrm>
          <a:prstGeom prst="roundRect">
            <a:avLst>
              <a:gd name="adj" fmla="val 4000"/>
            </a:avLst>
          </a:prstGeom>
          <a:solidFill>
            <a:srgbClr val="FFF0DC"/>
          </a:solidFill>
          <a:ln w="9525">
            <a:solidFill>
              <a:srgbClr val="DED3C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2148840"/>
            <a:ext cx="3712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8.9km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606040"/>
            <a:ext cx="3712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절대 거리오차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40080" y="3063240"/>
            <a:ext cx="3931920" cy="914400"/>
          </a:xfrm>
          <a:prstGeom prst="roundRect">
            <a:avLst>
              <a:gd name="adj" fmla="val 4000"/>
            </a:avLst>
          </a:prstGeom>
          <a:solidFill>
            <a:srgbClr val="F4EDE3"/>
          </a:solidFill>
          <a:ln w="9525">
            <a:solidFill>
              <a:srgbClr val="DED3C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3154680"/>
            <a:ext cx="3712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22.9km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3611880"/>
            <a:ext cx="3712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거리오차 95% 분위</a:t>
            </a:r>
            <a:endParaRPr lang="en-US" sz="9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160520"/>
          <a:ext cx="3931920" cy="914400"/>
        </p:xfrm>
        <a:graphic>
          <a:graphicData uri="http://schemas.openxmlformats.org/drawingml/2006/table">
            <a:tbl>
              <a:tblPr/>
              <a:tblGrid>
                <a:gridCol w="1336853"/>
                <a:gridCol w="865022"/>
                <a:gridCol w="943661"/>
                <a:gridCol w="786384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방식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7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전비 MAE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7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평균 거리오차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7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 오차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76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고정 전비 기준선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31.3km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77.1km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주행조건 예측모델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8.9km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22.9km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C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640080" y="5349240"/>
            <a:ext cx="1920240" cy="685800"/>
          </a:xfrm>
          <a:prstGeom prst="roundRect">
            <a:avLst>
              <a:gd name="adj" fmla="val 5333"/>
            </a:avLst>
          </a:prstGeom>
          <a:solidFill>
            <a:srgbClr val="E9F4EE"/>
          </a:solidFill>
          <a:ln w="9525">
            <a:solidFill>
              <a:srgbClr val="DED3C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9808" y="54223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D8B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−72.3%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749808" y="5769864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전비 MAE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651760" y="5349240"/>
            <a:ext cx="1920240" cy="685800"/>
          </a:xfrm>
          <a:prstGeom prst="roundRect">
            <a:avLst>
              <a:gd name="adj" fmla="val 5333"/>
            </a:avLst>
          </a:prstGeom>
          <a:solidFill>
            <a:srgbClr val="E9F4EE"/>
          </a:solidFill>
          <a:ln w="9525">
            <a:solidFill>
              <a:srgbClr val="DED3C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761488" y="54223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D8B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−71.6%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2761488" y="5769864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거리오차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846320" y="2057400"/>
            <a:ext cx="6702552" cy="3313049"/>
          </a:xfrm>
          <a:prstGeom prst="roundRect">
            <a:avLst>
              <a:gd name="adj" fmla="val 1104"/>
            </a:avLst>
          </a:prstGeom>
          <a:solidFill>
            <a:srgbClr val="FFFDF8"/>
          </a:solidFill>
          <a:ln w="9525">
            <a:solidFill>
              <a:srgbClr val="DED3C3"/>
            </a:solidFill>
            <a:prstDash val="solid"/>
          </a:ln>
        </p:spPr>
      </p:sp>
      <p:pic>
        <p:nvPicPr>
          <p:cNvPr id="19" name="Image 0" descr="/home/claude/pptx_build/images/chart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2103120"/>
            <a:ext cx="6611112" cy="3221609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64008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D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60kWh battery · sample-wise range error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10634472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활용 및 서비스 연결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최단거리·최단시간에 </a:t>
            </a:r>
            <a:pPr algn="l"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최소 에너지</a:t>
            </a:r>
            <a:pPr algn="l"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라는 세 번째 축을 더한다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링크별 예측 전비를 거리로 변환해 경로 에너지를 합산하고, 현재 SOC와 배터리 용량으로 도착 잔량을 계산한다.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0908792" cy="502920"/>
          </a:xfrm>
          <a:prstGeom prst="roundRect">
            <a:avLst>
              <a:gd name="adj" fmla="val 7273"/>
            </a:avLst>
          </a:prstGeom>
          <a:solidFill>
            <a:srgbClr val="FFF0DC"/>
          </a:solidFill>
          <a:ln w="9525">
            <a:solidFill>
              <a:srgbClr val="F2C2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14884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route = Σ  ŷᵢ × dᵢ / 100      ·      SOC arrive = SOC now − E route / Battery × 100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5317236" cy="960120"/>
          </a:xfrm>
          <a:prstGeom prst="roundRect">
            <a:avLst>
              <a:gd name="adj" fmla="val 3810"/>
            </a:avLst>
          </a:prstGeom>
          <a:solidFill>
            <a:srgbClr val="FFFAF2"/>
          </a:solidFill>
          <a:ln w="9525">
            <a:solidFill>
              <a:srgbClr val="DED3C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880360"/>
            <a:ext cx="5317236" cy="45720"/>
          </a:xfrm>
          <a:prstGeom prst="rect">
            <a:avLst/>
          </a:prstGeom>
          <a:solidFill>
            <a:srgbClr val="355F8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2999232"/>
            <a:ext cx="49880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경로 A · 고속도로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3246120"/>
            <a:ext cx="49880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29.3kWh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3639312"/>
            <a:ext cx="49880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100km · 평균 118km/h · 도착 SOC 31.2%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231636" y="2880360"/>
            <a:ext cx="5317236" cy="960120"/>
          </a:xfrm>
          <a:prstGeom prst="roundRect">
            <a:avLst>
              <a:gd name="adj" fmla="val 3810"/>
            </a:avLst>
          </a:prstGeom>
          <a:solidFill>
            <a:srgbClr val="FFF0DC"/>
          </a:solidFill>
          <a:ln w="9525">
            <a:solidFill>
              <a:srgbClr val="F2C2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1636" y="2880360"/>
            <a:ext cx="5317236" cy="45720"/>
          </a:xfrm>
          <a:prstGeom prst="rect">
            <a:avLst/>
          </a:prstGeom>
          <a:solidFill>
            <a:srgbClr val="F28C2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96228" y="2999232"/>
            <a:ext cx="49880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경로 B · 국도  </a:t>
            </a:r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최소 에너지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396228" y="3246120"/>
            <a:ext cx="49880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28.0kWh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396228" y="3639312"/>
            <a:ext cx="49880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106km · 평균 62km/h · 도착 SOC 33.3%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40080" y="4114800"/>
            <a:ext cx="2590038" cy="868680"/>
          </a:xfrm>
          <a:prstGeom prst="roundRect">
            <a:avLst>
              <a:gd name="adj" fmla="val 4211"/>
            </a:avLst>
          </a:prstGeom>
          <a:solidFill>
            <a:srgbClr val="FFFAF2"/>
          </a:solidFill>
          <a:ln w="9525">
            <a:solidFill>
              <a:srgbClr val="DED3C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" y="4224528"/>
            <a:ext cx="23340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" y="4443984"/>
            <a:ext cx="23340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링크 조건 입력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68096" y="4718304"/>
            <a:ext cx="23340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속도 · 경사 · 차량 상태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3230118" y="4114800"/>
            <a:ext cx="182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412998" y="4114800"/>
            <a:ext cx="2590038" cy="868680"/>
          </a:xfrm>
          <a:prstGeom prst="roundRect">
            <a:avLst>
              <a:gd name="adj" fmla="val 4211"/>
            </a:avLst>
          </a:prstGeom>
          <a:solidFill>
            <a:srgbClr val="FFFAF2"/>
          </a:solidFill>
          <a:ln w="9525">
            <a:solidFill>
              <a:srgbClr val="DED3C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41014" y="4224528"/>
            <a:ext cx="23340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3541014" y="4443984"/>
            <a:ext cx="23340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전비 예측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3541014" y="4718304"/>
            <a:ext cx="23340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거리 미사용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6003036" y="4114800"/>
            <a:ext cx="182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185916" y="4114800"/>
            <a:ext cx="2590038" cy="868680"/>
          </a:xfrm>
          <a:prstGeom prst="roundRect">
            <a:avLst>
              <a:gd name="adj" fmla="val 4211"/>
            </a:avLst>
          </a:prstGeom>
          <a:solidFill>
            <a:srgbClr val="FFFAF2"/>
          </a:solidFill>
          <a:ln w="9525">
            <a:solidFill>
              <a:srgbClr val="DED3C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13932" y="4224528"/>
            <a:ext cx="23340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313932" y="4443984"/>
            <a:ext cx="23340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에너지 합산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313932" y="4718304"/>
            <a:ext cx="23340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전비 × 링크 거리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8775954" y="4114800"/>
            <a:ext cx="182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958834" y="4114800"/>
            <a:ext cx="2590038" cy="868680"/>
          </a:xfrm>
          <a:prstGeom prst="roundRect">
            <a:avLst>
              <a:gd name="adj" fmla="val 4211"/>
            </a:avLst>
          </a:prstGeom>
          <a:solidFill>
            <a:srgbClr val="FFF0DC"/>
          </a:solidFill>
          <a:ln w="9525">
            <a:solidFill>
              <a:srgbClr val="F2C28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086850" y="4224528"/>
            <a:ext cx="23340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9086850" y="4443984"/>
            <a:ext cx="23340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경로·SOC 안내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9086850" y="4718304"/>
            <a:ext cx="23340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충전 경유 판단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40080" y="5166360"/>
            <a:ext cx="3544824" cy="914400"/>
          </a:xfrm>
          <a:prstGeom prst="roundRect">
            <a:avLst>
              <a:gd name="adj" fmla="val 4000"/>
            </a:avLst>
          </a:prstGeom>
          <a:solidFill>
            <a:srgbClr val="F4EDE3"/>
          </a:solidFill>
          <a:ln w="9525">
            <a:solidFill>
              <a:srgbClr val="DED3C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68096" y="5276088"/>
            <a:ext cx="3288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파일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768096" y="5486400"/>
            <a:ext cx="328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v2.0.0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768096" y="5742432"/>
            <a:ext cx="328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파이프라인·피처·범위·성능 메타데이터 저장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322064" y="5166360"/>
            <a:ext cx="3544824" cy="914400"/>
          </a:xfrm>
          <a:prstGeom prst="roundRect">
            <a:avLst>
              <a:gd name="adj" fmla="val 4000"/>
            </a:avLst>
          </a:prstGeom>
          <a:solidFill>
            <a:srgbClr val="F4EDE3"/>
          </a:solidFill>
          <a:ln w="9525">
            <a:solidFill>
              <a:srgbClr val="DED3C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450080" y="5276088"/>
            <a:ext cx="3288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정합성 관리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4450080" y="5486400"/>
            <a:ext cx="328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피처 정합성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4450080" y="5742432"/>
            <a:ext cx="328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앱이 모델 파일에서 정의를 읽어 중복 하드코딩 방지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8004048" y="5166360"/>
            <a:ext cx="3544824" cy="914400"/>
          </a:xfrm>
          <a:prstGeom prst="roundRect">
            <a:avLst>
              <a:gd name="adj" fmla="val 4000"/>
            </a:avLst>
          </a:prstGeom>
          <a:solidFill>
            <a:srgbClr val="F4EDE3"/>
          </a:solidFill>
          <a:ln w="9525">
            <a:solidFill>
              <a:srgbClr val="DED3C3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132064" y="5276088"/>
            <a:ext cx="3288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활용 화면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8132064" y="5486400"/>
            <a:ext cx="328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경로 비교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8132064" y="5742432"/>
            <a:ext cx="328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링크 전비·소비에너지·도착 SOC를 즉시 시연</a:t>
            </a:r>
            <a:endParaRPr lang="en-US" sz="800" dirty="0"/>
          </a:p>
        </p:txBody>
      </p:sp>
      <p:sp>
        <p:nvSpPr>
          <p:cNvPr id="48" name="Text 46"/>
          <p:cNvSpPr txBox="1"/>
          <p:nvPr/>
        </p:nvSpPr>
        <p:spPr>
          <a:xfrm>
            <a:off x="64008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D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concept · Streamlit / FastAPI ready artifact</a:t>
            </a: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10634472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결론 및 다음 단계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가장 높은 숫자보다, </a:t>
            </a:r>
            <a:pPr algn="l"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실제로 쓸 수 있는 비용 함수</a:t>
            </a:r>
            <a:pPr algn="l"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를 선택했다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정확도·속도·해석성에 서비스 일관성까지 더해 최종 모델을 결정했다.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29184" cy="329184"/>
          </a:xfrm>
          <a:prstGeom prst="ellipse">
            <a:avLst/>
          </a:prstGeom>
          <a:solidFill>
            <a:srgbClr val="F28C2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148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121408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거리 변수의 예측력을 의도적으로 포기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395728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설명력 약 2.3%p보다 링크 분할 불변성을 우선했다.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2862072"/>
            <a:ext cx="329184" cy="329184"/>
          </a:xfrm>
          <a:prstGeom prst="ellipse">
            <a:avLst/>
          </a:prstGeom>
          <a:solidFill>
            <a:srgbClr val="F28C2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862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83464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9개 피처 선형모델이 14개 구성 중 1위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10896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R² 0.931 ± 0.003, MAE 0.795로 단순성과 안정성을 동시에 확보했다.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" y="3575304"/>
            <a:ext cx="329184" cy="329184"/>
          </a:xfrm>
          <a:prstGeom prst="ellipse">
            <a:avLst/>
          </a:prstGeom>
          <a:solidFill>
            <a:srgbClr val="F28C2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575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547872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고정 전비 기준선 대비 약 72% 개선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822192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거리오차 31.3km를 8.9km로 낮췄고 95% 오차는 22.9km다.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" y="4288536"/>
            <a:ext cx="329184" cy="329184"/>
          </a:xfrm>
          <a:prstGeom prst="ellipse">
            <a:avLst/>
          </a:prstGeom>
          <a:solidFill>
            <a:srgbClr val="F28C2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42885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261104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경로 비용 함수와 서비스 데모까지 연결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4535424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최소 에너지 경로·도착 SOC·충전 경유 판단으로 확장할 수 있다.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498080" y="2148840"/>
            <a:ext cx="4050792" cy="1737360"/>
          </a:xfrm>
          <a:prstGeom prst="roundRect">
            <a:avLst>
              <a:gd name="adj" fmla="val 2105"/>
            </a:avLst>
          </a:prstGeom>
          <a:solidFill>
            <a:srgbClr val="FFF0DC"/>
          </a:solidFill>
          <a:ln w="9525">
            <a:solidFill>
              <a:srgbClr val="F2C28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62672" y="2286000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검증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7662672" y="2514600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실차 링크 단위 외부 검증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662672" y="2816352"/>
            <a:ext cx="3721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24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OBD/CAN 로그 기반 재학습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24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차종·운전자·계절별 Group 검증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24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도착 SOC 예측구간과 95% 안전 마진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24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오르막·내리막 회생제동 계수 분리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498080" y="4023360"/>
            <a:ext cx="4050792" cy="1097280"/>
          </a:xfrm>
          <a:prstGeom prst="roundRect">
            <a:avLst>
              <a:gd name="adj" fmla="val 3333"/>
            </a:avLst>
          </a:prstGeom>
          <a:solidFill>
            <a:srgbClr val="FFFAF2"/>
          </a:solidFill>
          <a:ln w="9525">
            <a:solidFill>
              <a:srgbClr val="DED3C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662672" y="4142232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분석의 한계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7662672" y="4389120"/>
            <a:ext cx="3721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합성 DOE형 데이터 · Test 완전 독립성 제약 · 실제 내비 링크보다 긴 분석 단위 · 차종/열화/바람/강수 미반영 · 실차 인과효과 아님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0080" y="5486400"/>
            <a:ext cx="45720" cy="685800"/>
          </a:xfrm>
          <a:prstGeom prst="rect">
            <a:avLst/>
          </a:prstGeom>
          <a:solidFill>
            <a:srgbClr val="F28C2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04672" y="5486400"/>
            <a:ext cx="10744200" cy="685800"/>
          </a:xfrm>
          <a:prstGeom prst="rect">
            <a:avLst/>
          </a:prstGeom>
          <a:solidFill>
            <a:srgbClr val="FFF0DC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메시지  </a:t>
            </a:r>
            <a:pPr indent="0" marL="0">
              <a:buNone/>
            </a:pPr>
            <a:r>
              <a:rPr lang="en-US" sz="1150" dirty="0">
                <a:solidFill>
                  <a:srgbClr val="24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 성능은 모델 선택의 출발점이고, 서비스 구조 안에서 같은 답을 내는지가 배포 가능성을 결정한다.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D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ENERGY ANALYTICS · FINAL SUMMARY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10634472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프로젝트 회고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KPT 회고 — </a:t>
            </a:r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· Problem · Try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6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문제정의와 방향성은 확실했지만, 결론의 완성도와 역할 분담에서 다음 프로젝트가 이어받을 개선점을 남긴다.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483864" cy="502920"/>
          </a:xfrm>
          <a:prstGeom prst="roundRect">
            <a:avLst>
              <a:gd name="adj" fmla="val 6364"/>
            </a:avLst>
          </a:prstGeom>
          <a:solidFill>
            <a:srgbClr val="4D8B6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1945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잘한 점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807208"/>
            <a:ext cx="3483864" cy="3200400"/>
          </a:xfrm>
          <a:prstGeom prst="roundRect">
            <a:avLst>
              <a:gd name="adj" fmla="val 1143"/>
            </a:avLst>
          </a:prstGeom>
          <a:solidFill>
            <a:srgbClr val="E9F4E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916936"/>
            <a:ext cx="3118104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100"/>
              </a:spcAft>
              <a:buSzPct val="100000"/>
              <a:buChar char="▪"/>
            </a:pPr>
            <a:r>
              <a:rPr lang="en-US" sz="1200" dirty="0">
                <a:solidFill>
                  <a:srgbClr val="24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현재의 협업 방식 그대로 유지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100"/>
              </a:spcAft>
              <a:buSzPct val="100000"/>
              <a:buChar char="▪"/>
            </a:pPr>
            <a:r>
              <a:rPr lang="en-US" sz="1200" dirty="0">
                <a:solidFill>
                  <a:srgbClr val="24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명확한 타겟·방법론·방향성 설정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100"/>
              </a:spcAft>
              <a:buSzPct val="100000"/>
              <a:buChar char="▪"/>
            </a:pPr>
            <a:r>
              <a:rPr lang="en-US" sz="1200" dirty="0">
                <a:solidFill>
                  <a:srgbClr val="24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확실하게 잡힌 기획 틀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100"/>
              </a:spcAft>
              <a:buSzPct val="100000"/>
              <a:buChar char="▪"/>
            </a:pPr>
            <a:r>
              <a:rPr lang="en-US" sz="1200" dirty="0">
                <a:solidFill>
                  <a:srgbClr val="24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초반 회의를 통한 충분한 대화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100"/>
              </a:spcAft>
              <a:buSzPct val="100000"/>
              <a:buChar char="▪"/>
            </a:pPr>
            <a:r>
              <a:rPr lang="en-US" sz="1200" dirty="0">
                <a:solidFill>
                  <a:srgbClr val="24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 팀보다 현실적인 조건으로 실질적 도움이 되는 결과 도출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100"/>
              </a:spcAft>
              <a:buSzPct val="100000"/>
              <a:buChar char="▪"/>
            </a:pPr>
            <a:r>
              <a:rPr lang="en-US" sz="1200" dirty="0">
                <a:solidFill>
                  <a:srgbClr val="24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주제 선정부터 문제정의까지 방향성을 잘 설정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52544" y="2194560"/>
            <a:ext cx="3483864" cy="502920"/>
          </a:xfrm>
          <a:prstGeom prst="roundRect">
            <a:avLst>
              <a:gd name="adj" fmla="val 6364"/>
            </a:avLst>
          </a:prstGeom>
          <a:solidFill>
            <a:srgbClr val="B94B4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17136" y="21945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문제점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52544" y="2807208"/>
            <a:ext cx="3483864" cy="3200400"/>
          </a:xfrm>
          <a:prstGeom prst="roundRect">
            <a:avLst>
              <a:gd name="adj" fmla="val 1143"/>
            </a:avLst>
          </a:prstGeom>
          <a:solidFill>
            <a:srgbClr val="F9EDE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35424" y="2916936"/>
            <a:ext cx="3118104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100"/>
              </a:spcAft>
              <a:buSzPct val="100000"/>
              <a:buChar char="▪"/>
            </a:pPr>
            <a:r>
              <a:rPr lang="en-US" sz="1200" dirty="0">
                <a:solidFill>
                  <a:srgbClr val="24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결론이 미흡하고 방향성이 부족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100"/>
              </a:spcAft>
              <a:buSzPct val="100000"/>
              <a:buChar char="▪"/>
            </a:pPr>
            <a:r>
              <a:rPr lang="en-US" sz="1200" dirty="0">
                <a:solidFill>
                  <a:srgbClr val="24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제공된 데이터의 한계로 프로젝트 완성도 부족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100"/>
              </a:spcAft>
              <a:buSzPct val="100000"/>
              <a:buChar char="▪"/>
            </a:pPr>
            <a:r>
              <a:rPr lang="en-US" sz="1200" dirty="0">
                <a:solidFill>
                  <a:srgbClr val="24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모두가 E2E로 같은 일을 해 다양한 시도를 할 시간 부족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100"/>
              </a:spcAft>
              <a:buSzPct val="100000"/>
              <a:buChar char="▪"/>
            </a:pPr>
            <a:r>
              <a:rPr lang="en-US" sz="1200" dirty="0">
                <a:solidFill>
                  <a:srgbClr val="24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다양성 확보를 위한 역할 세분화 미흡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100"/>
              </a:spcAft>
              <a:buSzPct val="100000"/>
              <a:buChar char="▪"/>
            </a:pPr>
            <a:r>
              <a:rPr lang="en-US" sz="1200" dirty="0">
                <a:solidFill>
                  <a:srgbClr val="24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부재로 기획이 다소 허술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100"/>
              </a:spcAft>
              <a:buSzPct val="100000"/>
              <a:buChar char="▪"/>
            </a:pPr>
            <a:r>
              <a:rPr lang="en-US" sz="1200" dirty="0">
                <a:solidFill>
                  <a:srgbClr val="24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데이터인데 전처리를 각자 진행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65008" y="2194560"/>
            <a:ext cx="3483864" cy="502920"/>
          </a:xfrm>
          <a:prstGeom prst="roundRect">
            <a:avLst>
              <a:gd name="adj" fmla="val 6364"/>
            </a:avLst>
          </a:prstGeom>
          <a:solidFill>
            <a:srgbClr val="355F8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0" y="21945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개선할 점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065008" y="2807208"/>
            <a:ext cx="3483864" cy="3200400"/>
          </a:xfrm>
          <a:prstGeom prst="roundRect">
            <a:avLst>
              <a:gd name="adj" fmla="val 1143"/>
            </a:avLst>
          </a:prstGeom>
          <a:solidFill>
            <a:srgbClr val="E9F0F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47888" y="2916936"/>
            <a:ext cx="3118104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100"/>
              </a:spcAft>
              <a:buSzPct val="100000"/>
              <a:buChar char="▪"/>
            </a:pPr>
            <a:r>
              <a:rPr lang="en-US" sz="1200" dirty="0">
                <a:solidFill>
                  <a:srgbClr val="24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문제정의부터 피드백까지 이어지는 프로세스로 마무리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100"/>
              </a:spcAft>
              <a:buSzPct val="100000"/>
              <a:buChar char="▪"/>
            </a:pPr>
            <a:r>
              <a:rPr lang="en-US" sz="1200" dirty="0">
                <a:solidFill>
                  <a:srgbClr val="24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팀원 간 의사소통 강화와 체계적인 문서화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100"/>
              </a:spcAft>
              <a:buSzPct val="100000"/>
              <a:buChar char="▪"/>
            </a:pPr>
            <a:r>
              <a:rPr lang="en-US" sz="1200" dirty="0">
                <a:solidFill>
                  <a:srgbClr val="24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기획을 튼튼히 하되 방향에 따라 역할 세분화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100"/>
              </a:spcAft>
              <a:buSzPct val="100000"/>
              <a:buChar char="▪"/>
            </a:pPr>
            <a:r>
              <a:rPr lang="en-US" sz="1200" dirty="0">
                <a:solidFill>
                  <a:srgbClr val="24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맡고 싶은 분야가 있으면 적극적으로 의견 표명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100"/>
              </a:spcAft>
              <a:buSzPct val="100000"/>
              <a:buChar char="▪"/>
            </a:pPr>
            <a:r>
              <a:rPr lang="en-US" sz="1200" dirty="0">
                <a:solidFill>
                  <a:srgbClr val="24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도움이 필요할 때 주저 없이 요청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100"/>
              </a:spcAft>
              <a:buSzPct val="100000"/>
              <a:buChar char="▪"/>
            </a:pPr>
            <a:r>
              <a:rPr lang="en-US" sz="1200" dirty="0">
                <a:solidFill>
                  <a:srgbClr val="24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전처리는 공동 진행 후 상위 데이터 추출·튜닝으로 다양성 추구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D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RETROSPECTIVE · KPT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10634472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2026-08-28T08:00:18Z</dcterms:created>
  <dcterms:modified xsi:type="dcterms:W3CDTF">2026-08-28T08:00:18Z</dcterms:modified>
</cp:coreProperties>
</file>